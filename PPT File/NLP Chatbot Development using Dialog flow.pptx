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7"/>
  </p:notesMasterIdLst>
  <p:handoutMasterIdLst>
    <p:handoutMasterId r:id="rId28"/>
  </p:handoutMasterIdLst>
  <p:sldIdLst>
    <p:sldId id="256" r:id="rId5"/>
    <p:sldId id="257" r:id="rId6"/>
    <p:sldId id="258" r:id="rId7"/>
    <p:sldId id="262" r:id="rId8"/>
    <p:sldId id="283" r:id="rId9"/>
    <p:sldId id="264" r:id="rId10"/>
    <p:sldId id="266" r:id="rId11"/>
    <p:sldId id="284" r:id="rId12"/>
    <p:sldId id="286" r:id="rId13"/>
    <p:sldId id="287" r:id="rId14"/>
    <p:sldId id="288" r:id="rId15"/>
    <p:sldId id="290" r:id="rId16"/>
    <p:sldId id="289" r:id="rId17"/>
    <p:sldId id="292" r:id="rId18"/>
    <p:sldId id="291" r:id="rId19"/>
    <p:sldId id="293" r:id="rId20"/>
    <p:sldId id="295" r:id="rId21"/>
    <p:sldId id="296" r:id="rId22"/>
    <p:sldId id="294" r:id="rId23"/>
    <p:sldId id="297" r:id="rId24"/>
    <p:sldId id="267" r:id="rId25"/>
    <p:sldId id="26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B5ADE32-E421-4F67-A075-4AF9BC7DB87A}">
          <p14:sldIdLst>
            <p14:sldId id="256"/>
            <p14:sldId id="257"/>
            <p14:sldId id="258"/>
            <p14:sldId id="262"/>
            <p14:sldId id="283"/>
            <p14:sldId id="264"/>
            <p14:sldId id="266"/>
            <p14:sldId id="284"/>
            <p14:sldId id="286"/>
            <p14:sldId id="287"/>
            <p14:sldId id="288"/>
            <p14:sldId id="290"/>
            <p14:sldId id="289"/>
            <p14:sldId id="292"/>
            <p14:sldId id="291"/>
            <p14:sldId id="293"/>
            <p14:sldId id="295"/>
            <p14:sldId id="296"/>
            <p14:sldId id="294"/>
            <p14:sldId id="297"/>
            <p14:sldId id="267"/>
            <p14:sldId id="2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7" d="100"/>
          <a:sy n="67" d="100"/>
        </p:scale>
        <p:origin x="644" y="40"/>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8/27/2025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8/27/2025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625782" y="1039660"/>
            <a:ext cx="7156517" cy="2793304"/>
          </a:xfrm>
        </p:spPr>
        <p:txBody>
          <a:bodyPr/>
          <a:lstStyle/>
          <a:p>
            <a:r>
              <a:rPr lang="en-US" sz="6000" dirty="0"/>
              <a:t>NLP Chatbot Development using Dialog flow</a:t>
            </a:r>
          </a:p>
        </p:txBody>
      </p:sp>
      <p:pic>
        <p:nvPicPr>
          <p:cNvPr id="5" name="Picture 6" descr="C:\Users\usman.waheed\Desktop\vulogo.jpg">
            <a:extLst>
              <a:ext uri="{FF2B5EF4-FFF2-40B4-BE49-F238E27FC236}">
                <a16:creationId xmlns:a16="http://schemas.microsoft.com/office/drawing/2014/main" id="{A4ECA2FC-6A9E-41DE-8D90-3B41E73B6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5963" y="4578264"/>
            <a:ext cx="2240073" cy="162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25469" y="1639657"/>
            <a:ext cx="8480120" cy="1540701"/>
          </a:xfrm>
        </p:spPr>
        <p:txBody>
          <a:bodyPr>
            <a:normAutofit/>
          </a:bodyPr>
          <a:lstStyle/>
          <a:p>
            <a:r>
              <a:rPr lang="en-US" sz="4800" dirty="0"/>
              <a:t>Group Members Introduction</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923926" y="3833748"/>
            <a:ext cx="6096000" cy="1384595"/>
          </a:xfrm>
        </p:spPr>
        <p:txBody>
          <a:bodyPr>
            <a:noAutofit/>
          </a:bodyPr>
          <a:lstStyle/>
          <a:p>
            <a:pPr algn="ctr">
              <a:defRPr/>
            </a:pPr>
            <a:r>
              <a:rPr lang="en-US" sz="4000" b="1" dirty="0"/>
              <a:t>Name: Hassam Khan</a:t>
            </a:r>
          </a:p>
          <a:p>
            <a:pPr algn="ctr">
              <a:defRPr/>
            </a:pPr>
            <a:r>
              <a:rPr lang="en-US" sz="3800" b="1" dirty="0"/>
              <a:t>VU ID: BC210414987</a:t>
            </a:r>
          </a:p>
          <a:p>
            <a:pPr algn="ctr">
              <a:defRPr/>
            </a:pPr>
            <a:endParaRPr lang="en-US" sz="4000" dirty="0"/>
          </a:p>
          <a:p>
            <a:pPr algn="ctr">
              <a:defRPr/>
            </a:pPr>
            <a:endParaRPr lang="en-US" sz="4000"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INTRODUCTION OF PROJECT</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66675" y="1625385"/>
            <a:ext cx="8010525" cy="4613490"/>
          </a:xfrm>
        </p:spPr>
        <p:txBody>
          <a:bodyPr/>
          <a:lstStyle/>
          <a:p>
            <a:r>
              <a:rPr lang="en-GB" dirty="0"/>
              <a:t>In today’s fast-moving digital world, restaurants need smarter ways to serve customers quickly and effectively. Chatbots have become a powerful solution, offering 24/7 support and instant replies. This project focuses on building an intelligent restaurant chatbot using Google Dialogflow.</a:t>
            </a:r>
          </a:p>
          <a:p>
            <a:r>
              <a:rPr lang="en-GB" dirty="0"/>
              <a:t>The chatbot is designed to make customer interactions friendly and engaging. It will handle everyday tasks such as making reservations, placing orders, checking order status, and showing the menu. By automating these services, it saves valuable time for both customers and staff.</a:t>
            </a:r>
          </a:p>
          <a:p>
            <a:r>
              <a:rPr lang="en-GB" dirty="0"/>
              <a:t>Along with these basics, the chatbot will also share product details, answer common questions, and help with order confirmations or changes. Customers can even share their feedback directly through the chatbot. These features create a smooth and personalized dining experience.</a:t>
            </a:r>
          </a:p>
          <a:p>
            <a:r>
              <a:rPr lang="en-GB" dirty="0"/>
              <a:t>Overall, the restaurant chatbot aims to boost customer satisfaction while making restaurant operations more efficient. By combining natural language processing with backend integration, this project delivers a practical solution. It not only helps businesses but also gives hands-on experience with AI technologies.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28600" y="710550"/>
            <a:ext cx="6559826" cy="466281"/>
          </a:xfrm>
        </p:spPr>
        <p:txBody>
          <a:bodyPr/>
          <a:lstStyle/>
          <a:p>
            <a:r>
              <a:rPr lang="en-US" sz="2700" dirty="0"/>
              <a:t>Rapid Prototype Model Incremental Model</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34" name="Picture 1">
            <a:extLst>
              <a:ext uri="{FF2B5EF4-FFF2-40B4-BE49-F238E27FC236}">
                <a16:creationId xmlns:a16="http://schemas.microsoft.com/office/drawing/2014/main" id="{066225B7-78AF-498D-81AF-6C145DCED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074" y="1799395"/>
            <a:ext cx="4327916" cy="3763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
            <a:extLst>
              <a:ext uri="{FF2B5EF4-FFF2-40B4-BE49-F238E27FC236}">
                <a16:creationId xmlns:a16="http://schemas.microsoft.com/office/drawing/2014/main" id="{F0763BEA-D21C-42EE-A21A-D5E777F3D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116" y="1853461"/>
            <a:ext cx="5693284" cy="3709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Use Case Diagram</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13" name="Picture 12">
            <a:extLst>
              <a:ext uri="{FF2B5EF4-FFF2-40B4-BE49-F238E27FC236}">
                <a16:creationId xmlns:a16="http://schemas.microsoft.com/office/drawing/2014/main" id="{68BE7D31-8046-4E3D-ACBC-BCE0FBC6C1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3251" y="1428750"/>
            <a:ext cx="5360374" cy="5353050"/>
          </a:xfrm>
          <a:prstGeom prst="rect">
            <a:avLst/>
          </a:prstGeom>
        </p:spPr>
      </p:pic>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Business Rules Catalog</a:t>
            </a:r>
          </a:p>
        </p:txBody>
      </p:sp>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99244" y="1877892"/>
            <a:ext cx="9402006" cy="3846633"/>
          </a:xfrm>
        </p:spPr>
        <p:txBody>
          <a:bodyPr/>
          <a:lstStyle/>
          <a:p>
            <a:r>
              <a:rPr lang="en-GB" dirty="0"/>
              <a:t>The goal of this project is to build an AI-powered restaurant chatbot that understands customer requests and communicates in a natural, friendly way. Using Dialogflow, the chatbot will make dining and ordering more convenient for customers while reducing staff workload.</a:t>
            </a:r>
          </a:p>
          <a:p>
            <a:endParaRPr lang="en-GB" dirty="0"/>
          </a:p>
          <a:p>
            <a:pPr marL="285750" indent="-285750">
              <a:buFont typeface="Arial" panose="020B0604020202020204" pitchFamily="34" charset="0"/>
              <a:buChar char="•"/>
            </a:pPr>
            <a:r>
              <a:rPr lang="en-GB" dirty="0"/>
              <a:t>Restaurants often face busy hours, long waiting times, and repeated customer questions. A chatbot can help solve these issues by taking orders, managing reservations, and quickly answering menu-related queries.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Customers usually wait to place orders, ask about menu items, or confirm their bookings. This often leads to slower service and added stress for staff. The chatbot will reduce these challenges by giving instant responses and automating routine tasks.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chatbot will handle tasks like booking tables, showing the menu, placing or modifying orders, and checking order status. It will also answer FAQs, share product details, and collect customer feedback. The aim is to make customer service smooth, fast, and enjoyable.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a:p>
            <a:endParaRPr lang="en-US" dirty="0"/>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GB" dirty="0"/>
              <a:t>Architectural Design</a:t>
            </a:r>
            <a:endParaRPr lang="en-US"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7" name="Picture 2" descr="Architecture_diagram">
            <a:extLst>
              <a:ext uri="{FF2B5EF4-FFF2-40B4-BE49-F238E27FC236}">
                <a16:creationId xmlns:a16="http://schemas.microsoft.com/office/drawing/2014/main" id="{0D322C94-D0E8-4CC3-A1C2-03BDBC3E0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233" y="2311912"/>
            <a:ext cx="7889033" cy="309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Team Structure</a:t>
            </a:r>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8</a:t>
            </a:fld>
            <a:endParaRPr lang="en-US" dirty="0"/>
          </a:p>
        </p:txBody>
      </p:sp>
      <p:pic>
        <p:nvPicPr>
          <p:cNvPr id="6" name="Picture 5">
            <a:extLst>
              <a:ext uri="{FF2B5EF4-FFF2-40B4-BE49-F238E27FC236}">
                <a16:creationId xmlns:a16="http://schemas.microsoft.com/office/drawing/2014/main" id="{C0372ADB-5AEB-4126-99EA-02EAB9EE9394}"/>
              </a:ext>
            </a:extLst>
          </p:cNvPr>
          <p:cNvPicPr>
            <a:picLocks noChangeAspect="1"/>
          </p:cNvPicPr>
          <p:nvPr/>
        </p:nvPicPr>
        <p:blipFill>
          <a:blip r:embed="rId2"/>
          <a:stretch>
            <a:fillRect/>
          </a:stretch>
        </p:blipFill>
        <p:spPr>
          <a:xfrm>
            <a:off x="3551236" y="1803371"/>
            <a:ext cx="5230813" cy="4141588"/>
          </a:xfrm>
          <a:prstGeom prst="rect">
            <a:avLst/>
          </a:prstGeom>
        </p:spPr>
      </p:pic>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B645-70CF-4140-9E6B-0A94A32669E6}"/>
              </a:ext>
            </a:extLst>
          </p:cNvPr>
          <p:cNvSpPr>
            <a:spLocks noGrp="1"/>
          </p:cNvSpPr>
          <p:nvPr>
            <p:ph type="title"/>
          </p:nvPr>
        </p:nvSpPr>
        <p:spPr/>
        <p:txBody>
          <a:bodyPr/>
          <a:lstStyle/>
          <a:p>
            <a:r>
              <a:rPr lang="en-US" dirty="0"/>
              <a:t>Project Schedule</a:t>
            </a:r>
            <a:endParaRPr lang="en-PK" dirty="0"/>
          </a:p>
        </p:txBody>
      </p:sp>
      <p:sp>
        <p:nvSpPr>
          <p:cNvPr id="3" name="Slide Number Placeholder 2">
            <a:extLst>
              <a:ext uri="{FF2B5EF4-FFF2-40B4-BE49-F238E27FC236}">
                <a16:creationId xmlns:a16="http://schemas.microsoft.com/office/drawing/2014/main" id="{3C944352-2FE3-46CF-A850-9037B38D0DC3}"/>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4" name="Picture 2" descr="Project Progress Overview NLP Chatbot Development Using Dialogflow 20241202">
            <a:extLst>
              <a:ext uri="{FF2B5EF4-FFF2-40B4-BE49-F238E27FC236}">
                <a16:creationId xmlns:a16="http://schemas.microsoft.com/office/drawing/2014/main" id="{1CB8721E-CB74-4479-AB19-629C00D2F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279" y="2248221"/>
            <a:ext cx="8645441" cy="3242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6605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8F3D-5CBC-465E-BCF2-7783D9C81934}"/>
              </a:ext>
            </a:extLst>
          </p:cNvPr>
          <p:cNvSpPr>
            <a:spLocks noGrp="1"/>
          </p:cNvSpPr>
          <p:nvPr>
            <p:ph type="title"/>
          </p:nvPr>
        </p:nvSpPr>
        <p:spPr/>
        <p:txBody>
          <a:bodyPr/>
          <a:lstStyle/>
          <a:p>
            <a:r>
              <a:rPr lang="en-US" dirty="0"/>
              <a:t>Sequence Diagrams</a:t>
            </a:r>
            <a:endParaRPr lang="en-PK" dirty="0"/>
          </a:p>
        </p:txBody>
      </p:sp>
      <p:sp>
        <p:nvSpPr>
          <p:cNvPr id="3" name="Slide Number Placeholder 2">
            <a:extLst>
              <a:ext uri="{FF2B5EF4-FFF2-40B4-BE49-F238E27FC236}">
                <a16:creationId xmlns:a16="http://schemas.microsoft.com/office/drawing/2014/main" id="{8E393978-EAFB-4C30-94CF-30FC4E8C93B7}"/>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pic>
        <p:nvPicPr>
          <p:cNvPr id="4" name="Picture 2" descr="Sequence_diagram12345">
            <a:extLst>
              <a:ext uri="{FF2B5EF4-FFF2-40B4-BE49-F238E27FC236}">
                <a16:creationId xmlns:a16="http://schemas.microsoft.com/office/drawing/2014/main" id="{ADDB0CFE-94B3-4FF7-9ED2-5DA22BFB6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9041" y="1162050"/>
            <a:ext cx="5276784" cy="557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9527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5839E-EBB6-47B8-9B0D-42F063AD1125}"/>
              </a:ext>
            </a:extLst>
          </p:cNvPr>
          <p:cNvSpPr>
            <a:spLocks noGrp="1"/>
          </p:cNvSpPr>
          <p:nvPr>
            <p:ph type="title"/>
          </p:nvPr>
        </p:nvSpPr>
        <p:spPr/>
        <p:txBody>
          <a:bodyPr/>
          <a:lstStyle/>
          <a:p>
            <a:r>
              <a:rPr lang="en-US" dirty="0"/>
              <a:t>Logical Model/Class Diagram</a:t>
            </a:r>
            <a:endParaRPr lang="en-PK" dirty="0"/>
          </a:p>
        </p:txBody>
      </p:sp>
      <p:sp>
        <p:nvSpPr>
          <p:cNvPr id="3" name="Slide Number Placeholder 2">
            <a:extLst>
              <a:ext uri="{FF2B5EF4-FFF2-40B4-BE49-F238E27FC236}">
                <a16:creationId xmlns:a16="http://schemas.microsoft.com/office/drawing/2014/main" id="{5B234958-9676-48A8-8C58-B776C916CFA8}"/>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pic>
        <p:nvPicPr>
          <p:cNvPr id="8" name="Picture 7">
            <a:extLst>
              <a:ext uri="{FF2B5EF4-FFF2-40B4-BE49-F238E27FC236}">
                <a16:creationId xmlns:a16="http://schemas.microsoft.com/office/drawing/2014/main" id="{FF797242-0AEE-430E-869B-65867C97A478}"/>
              </a:ext>
            </a:extLst>
          </p:cNvPr>
          <p:cNvPicPr>
            <a:picLocks noChangeAspect="1"/>
          </p:cNvPicPr>
          <p:nvPr/>
        </p:nvPicPr>
        <p:blipFill>
          <a:blip r:embed="rId2"/>
          <a:stretch>
            <a:fillRect/>
          </a:stretch>
        </p:blipFill>
        <p:spPr>
          <a:xfrm>
            <a:off x="3586975" y="1238250"/>
            <a:ext cx="5492546" cy="5543550"/>
          </a:xfrm>
          <a:prstGeom prst="rect">
            <a:avLst/>
          </a:prstGeom>
        </p:spPr>
      </p:pic>
    </p:spTree>
    <p:extLst>
      <p:ext uri="{BB962C8B-B14F-4D97-AF65-F5344CB8AC3E}">
        <p14:creationId xmlns:p14="http://schemas.microsoft.com/office/powerpoint/2010/main" val="1551101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71D50-567A-4129-8E4B-AEFE32956363}"/>
              </a:ext>
            </a:extLst>
          </p:cNvPr>
          <p:cNvSpPr>
            <a:spLocks noGrp="1"/>
          </p:cNvSpPr>
          <p:nvPr>
            <p:ph type="title"/>
          </p:nvPr>
        </p:nvSpPr>
        <p:spPr/>
        <p:txBody>
          <a:bodyPr/>
          <a:lstStyle/>
          <a:p>
            <a:r>
              <a:rPr lang="en-US" dirty="0"/>
              <a:t>Entity-Relationship Diagram</a:t>
            </a:r>
            <a:endParaRPr lang="en-PK" dirty="0"/>
          </a:p>
        </p:txBody>
      </p:sp>
      <p:sp>
        <p:nvSpPr>
          <p:cNvPr id="3" name="Slide Number Placeholder 2">
            <a:extLst>
              <a:ext uri="{FF2B5EF4-FFF2-40B4-BE49-F238E27FC236}">
                <a16:creationId xmlns:a16="http://schemas.microsoft.com/office/drawing/2014/main" id="{49A7199D-E92C-41C5-91F9-79CCCA5935C2}"/>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pic>
        <p:nvPicPr>
          <p:cNvPr id="4" name="Picture 2" descr="ERD_Diagram22222">
            <a:extLst>
              <a:ext uri="{FF2B5EF4-FFF2-40B4-BE49-F238E27FC236}">
                <a16:creationId xmlns:a16="http://schemas.microsoft.com/office/drawing/2014/main" id="{5F6BD427-5873-41AB-B93F-29F4F5E98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424" y="1662111"/>
            <a:ext cx="8716212" cy="448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1599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73C9-0285-4C0D-9114-9FD88152F43E}"/>
              </a:ext>
            </a:extLst>
          </p:cNvPr>
          <p:cNvSpPr>
            <a:spLocks noGrp="1"/>
          </p:cNvSpPr>
          <p:nvPr>
            <p:ph type="title"/>
          </p:nvPr>
        </p:nvSpPr>
        <p:spPr>
          <a:xfrm>
            <a:off x="444500" y="542925"/>
            <a:ext cx="11214100" cy="535531"/>
          </a:xfrm>
        </p:spPr>
        <p:txBody>
          <a:bodyPr/>
          <a:lstStyle/>
          <a:p>
            <a:r>
              <a:rPr lang="en-US" dirty="0"/>
              <a:t>Database Diagram</a:t>
            </a:r>
            <a:endParaRPr lang="en-PK" dirty="0"/>
          </a:p>
        </p:txBody>
      </p:sp>
      <p:sp>
        <p:nvSpPr>
          <p:cNvPr id="3" name="Slide Number Placeholder 2">
            <a:extLst>
              <a:ext uri="{FF2B5EF4-FFF2-40B4-BE49-F238E27FC236}">
                <a16:creationId xmlns:a16="http://schemas.microsoft.com/office/drawing/2014/main" id="{D14F46BA-999D-413B-918A-7FA3E145F21F}"/>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pic>
        <p:nvPicPr>
          <p:cNvPr id="6" name="Picture 5">
            <a:extLst>
              <a:ext uri="{FF2B5EF4-FFF2-40B4-BE49-F238E27FC236}">
                <a16:creationId xmlns:a16="http://schemas.microsoft.com/office/drawing/2014/main" id="{65D79C50-A6C8-4A2B-8434-6A0C9B68DC71}"/>
              </a:ext>
            </a:extLst>
          </p:cNvPr>
          <p:cNvPicPr>
            <a:picLocks noChangeAspect="1"/>
          </p:cNvPicPr>
          <p:nvPr/>
        </p:nvPicPr>
        <p:blipFill>
          <a:blip r:embed="rId2"/>
          <a:stretch>
            <a:fillRect/>
          </a:stretch>
        </p:blipFill>
        <p:spPr>
          <a:xfrm>
            <a:off x="1300551" y="1453866"/>
            <a:ext cx="9278549" cy="4970651"/>
          </a:xfrm>
          <a:prstGeom prst="rect">
            <a:avLst/>
          </a:prstGeom>
        </p:spPr>
      </p:pic>
    </p:spTree>
    <p:extLst>
      <p:ext uri="{BB962C8B-B14F-4D97-AF65-F5344CB8AC3E}">
        <p14:creationId xmlns:p14="http://schemas.microsoft.com/office/powerpoint/2010/main" val="1228949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0D1D2-1B12-4A69-9436-B800332683FD}"/>
              </a:ext>
            </a:extLst>
          </p:cNvPr>
          <p:cNvSpPr>
            <a:spLocks noGrp="1"/>
          </p:cNvSpPr>
          <p:nvPr>
            <p:ph type="title"/>
          </p:nvPr>
        </p:nvSpPr>
        <p:spPr>
          <a:xfrm>
            <a:off x="444500" y="542925"/>
            <a:ext cx="11214100" cy="535531"/>
          </a:xfrm>
        </p:spPr>
        <p:txBody>
          <a:bodyPr/>
          <a:lstStyle/>
          <a:p>
            <a:r>
              <a:rPr lang="en-US" dirty="0"/>
              <a:t>User Interfaces</a:t>
            </a:r>
            <a:endParaRPr lang="en-PK" dirty="0"/>
          </a:p>
        </p:txBody>
      </p:sp>
      <p:sp>
        <p:nvSpPr>
          <p:cNvPr id="3" name="Slide Number Placeholder 2">
            <a:extLst>
              <a:ext uri="{FF2B5EF4-FFF2-40B4-BE49-F238E27FC236}">
                <a16:creationId xmlns:a16="http://schemas.microsoft.com/office/drawing/2014/main" id="{CF671F37-169F-4AD6-B57B-728AF8D1FCAB}"/>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pic>
        <p:nvPicPr>
          <p:cNvPr id="6" name="Picture 1">
            <a:extLst>
              <a:ext uri="{FF2B5EF4-FFF2-40B4-BE49-F238E27FC236}">
                <a16:creationId xmlns:a16="http://schemas.microsoft.com/office/drawing/2014/main" id="{38E3050E-90F5-4626-805C-E2ECC4C6F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36" y="2316378"/>
            <a:ext cx="5717628" cy="2948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a:extLst>
              <a:ext uri="{FF2B5EF4-FFF2-40B4-BE49-F238E27FC236}">
                <a16:creationId xmlns:a16="http://schemas.microsoft.com/office/drawing/2014/main" id="{30847E41-5781-4643-8B3D-1F143AE34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550" y="2316378"/>
            <a:ext cx="5565229" cy="2886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4010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81FE2C-8572-49DD-9044-EE5155D3D674}"/>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pic>
        <p:nvPicPr>
          <p:cNvPr id="4" name="Picture 1">
            <a:extLst>
              <a:ext uri="{FF2B5EF4-FFF2-40B4-BE49-F238E27FC236}">
                <a16:creationId xmlns:a16="http://schemas.microsoft.com/office/drawing/2014/main" id="{3FB6C403-96A2-449B-8A54-9C32AAE21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47" y="1805149"/>
            <a:ext cx="5741278" cy="357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99846C06-C631-4DCF-B685-7B285D7070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05149"/>
            <a:ext cx="5917324" cy="357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347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0C82FD-A2D0-4D46-A507-6552691582D1}"/>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pic>
        <p:nvPicPr>
          <p:cNvPr id="5" name="Picture 1">
            <a:extLst>
              <a:ext uri="{FF2B5EF4-FFF2-40B4-BE49-F238E27FC236}">
                <a16:creationId xmlns:a16="http://schemas.microsoft.com/office/drawing/2014/main" id="{7F033F0A-FE09-451C-AB65-AE11137D0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842" y="2104695"/>
            <a:ext cx="5305096" cy="299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a:extLst>
              <a:ext uri="{FF2B5EF4-FFF2-40B4-BE49-F238E27FC236}">
                <a16:creationId xmlns:a16="http://schemas.microsoft.com/office/drawing/2014/main" id="{38BD347D-8306-4FC7-A4AD-0A7F49E9F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0896" y="2104695"/>
            <a:ext cx="5738648" cy="299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5258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A579FF-D03E-44BD-A96C-8C70F8F91C3C}"/>
              </a:ext>
            </a:extLst>
          </p:cNvPr>
          <p:cNvSpPr>
            <a:spLocks noGrp="1"/>
          </p:cNvSpPr>
          <p:nvPr>
            <p:ph type="sldNum" sz="quarter" idx="12"/>
          </p:nvPr>
        </p:nvSpPr>
        <p:spPr/>
        <p:txBody>
          <a:bodyPr/>
          <a:lstStyle/>
          <a:p>
            <a:fld id="{C263D6C4-4840-40CC-AC84-17E24B3B7BDE}" type="slidenum">
              <a:rPr lang="en-US" noProof="0" smtClean="0"/>
              <a:pPr/>
              <a:t>17</a:t>
            </a:fld>
            <a:endParaRPr lang="en-US" noProof="0" dirty="0"/>
          </a:p>
        </p:txBody>
      </p:sp>
      <p:pic>
        <p:nvPicPr>
          <p:cNvPr id="5" name="Picture 1">
            <a:extLst>
              <a:ext uri="{FF2B5EF4-FFF2-40B4-BE49-F238E27FC236}">
                <a16:creationId xmlns:a16="http://schemas.microsoft.com/office/drawing/2014/main" id="{A5F378DD-8AFF-4BF7-9A12-647A17F31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2538248"/>
            <a:ext cx="5376041" cy="2971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a:extLst>
              <a:ext uri="{FF2B5EF4-FFF2-40B4-BE49-F238E27FC236}">
                <a16:creationId xmlns:a16="http://schemas.microsoft.com/office/drawing/2014/main" id="{9E126258-03F6-4015-B904-DB60E52AC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38248"/>
            <a:ext cx="5525813" cy="2971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3663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F549D6-984B-4B9B-9CA7-201EE99ACA14}"/>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pic>
        <p:nvPicPr>
          <p:cNvPr id="4" name="Picture 1">
            <a:extLst>
              <a:ext uri="{FF2B5EF4-FFF2-40B4-BE49-F238E27FC236}">
                <a16:creationId xmlns:a16="http://schemas.microsoft.com/office/drawing/2014/main" id="{52E6EEB2-7F3A-44AA-AE1F-F62631951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61" y="2372415"/>
            <a:ext cx="5875283" cy="2831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62C8519A-599A-4BA3-BB87-F2B18E80AA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890" y="2388033"/>
            <a:ext cx="5546834" cy="281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0364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E080938-1F01-4EAC-8D94-8B332C8CC82E}"/>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pic>
        <p:nvPicPr>
          <p:cNvPr id="5" name="Picture 1">
            <a:extLst>
              <a:ext uri="{FF2B5EF4-FFF2-40B4-BE49-F238E27FC236}">
                <a16:creationId xmlns:a16="http://schemas.microsoft.com/office/drawing/2014/main" id="{4DE367C0-BC6A-4324-BEAE-51DE473C2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59" y="2136228"/>
            <a:ext cx="5452241"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a:extLst>
              <a:ext uri="{FF2B5EF4-FFF2-40B4-BE49-F238E27FC236}">
                <a16:creationId xmlns:a16="http://schemas.microsoft.com/office/drawing/2014/main" id="{E92109A1-AC5F-4061-BD1B-6B8AE1E90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5334" y="2136228"/>
            <a:ext cx="6079445" cy="304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3375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468B8-3B05-4A93-A8A0-0FE00BBF3FA9}"/>
              </a:ext>
            </a:extLst>
          </p:cNvPr>
          <p:cNvSpPr>
            <a:spLocks noGrp="1"/>
          </p:cNvSpPr>
          <p:nvPr>
            <p:ph type="title"/>
          </p:nvPr>
        </p:nvSpPr>
        <p:spPr>
          <a:xfrm>
            <a:off x="444500" y="542925"/>
            <a:ext cx="11214100" cy="701731"/>
          </a:xfrm>
        </p:spPr>
        <p:txBody>
          <a:bodyPr/>
          <a:lstStyle/>
          <a:p>
            <a:r>
              <a:rPr lang="en-US" sz="4400" dirty="0"/>
              <a:t>Tools</a:t>
            </a:r>
            <a:endParaRPr lang="en-PK" sz="4400" dirty="0"/>
          </a:p>
        </p:txBody>
      </p:sp>
      <p:sp>
        <p:nvSpPr>
          <p:cNvPr id="3" name="Slide Number Placeholder 2">
            <a:extLst>
              <a:ext uri="{FF2B5EF4-FFF2-40B4-BE49-F238E27FC236}">
                <a16:creationId xmlns:a16="http://schemas.microsoft.com/office/drawing/2014/main" id="{3F2283EB-6AD9-42C4-80E2-4B03DAA34753}"/>
              </a:ext>
            </a:extLst>
          </p:cNvPr>
          <p:cNvSpPr>
            <a:spLocks noGrp="1"/>
          </p:cNvSpPr>
          <p:nvPr>
            <p:ph type="sldNum" sz="quarter" idx="12"/>
          </p:nvPr>
        </p:nvSpPr>
        <p:spPr/>
        <p:txBody>
          <a:bodyPr/>
          <a:lstStyle/>
          <a:p>
            <a:fld id="{C263D6C4-4840-40CC-AC84-17E24B3B7BDE}" type="slidenum">
              <a:rPr lang="en-US" noProof="0" smtClean="0"/>
              <a:pPr/>
              <a:t>20</a:t>
            </a:fld>
            <a:endParaRPr lang="en-US" noProof="0" dirty="0"/>
          </a:p>
        </p:txBody>
      </p:sp>
      <p:sp>
        <p:nvSpPr>
          <p:cNvPr id="4" name="Rectangle 3">
            <a:extLst>
              <a:ext uri="{FF2B5EF4-FFF2-40B4-BE49-F238E27FC236}">
                <a16:creationId xmlns:a16="http://schemas.microsoft.com/office/drawing/2014/main" id="{7E3ADBAD-DDB9-46BC-A898-0990B0D90A15}"/>
              </a:ext>
            </a:extLst>
          </p:cNvPr>
          <p:cNvSpPr/>
          <p:nvPr/>
        </p:nvSpPr>
        <p:spPr>
          <a:xfrm>
            <a:off x="695326" y="2110579"/>
            <a:ext cx="3867149" cy="3693319"/>
          </a:xfrm>
          <a:prstGeom prst="rect">
            <a:avLst/>
          </a:prstGeom>
        </p:spPr>
        <p:txBody>
          <a:bodyPr wrap="square">
            <a:spAutoFit/>
          </a:bodyPr>
          <a:lstStyle/>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Google Dialogflow</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Python</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Fast Api</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MySQL</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HTML</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CSS</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JavaScript</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Ngrok</a:t>
            </a:r>
          </a:p>
          <a:p>
            <a:pPr marL="285750" lvl="0" indent="-285750" eaLnBrk="0" fontAlgn="base" hangingPunct="0">
              <a:spcBef>
                <a:spcPct val="0"/>
              </a:spcBef>
              <a:spcAft>
                <a:spcPct val="0"/>
              </a:spcAft>
              <a:buClr>
                <a:srgbClr val="1B6872"/>
              </a:buClr>
              <a:buFont typeface="Arial" panose="020B0604020202020204" pitchFamily="34" charset="0"/>
              <a:buChar char="•"/>
            </a:pPr>
            <a:r>
              <a:rPr lang="en-US" altLang="en-US" sz="2400" dirty="0">
                <a:solidFill>
                  <a:schemeClr val="bg1"/>
                </a:solidFill>
                <a:latin typeface="Arial" panose="020B0604020202020204" pitchFamily="34" charset="0"/>
              </a:rPr>
              <a:t>Visual Studio Code</a:t>
            </a: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502173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610476" cy="1819275"/>
          </a:xfrm>
        </p:spPr>
        <p:txBody>
          <a:bodyPr/>
          <a:lstStyle/>
          <a:p>
            <a:r>
              <a:rPr lang="en-GB" dirty="0"/>
              <a:t>A chatbot is not just a tool, it’s the new waiter of the digital age — always ready to serve with speed and a smile.</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21</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474</Words>
  <Application>Microsoft Office PowerPoint</Application>
  <PresentationFormat>Widescreen</PresentationFormat>
  <Paragraphs>62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Tahoma</vt:lpstr>
      <vt:lpstr>Trade Gothic LT Pro</vt:lpstr>
      <vt:lpstr>Trebuchet MS</vt:lpstr>
      <vt:lpstr>Office Theme</vt:lpstr>
      <vt:lpstr>NLP Chatbot Development using Dialog flow</vt:lpstr>
      <vt:lpstr>Group Members Introduction</vt:lpstr>
      <vt:lpstr>INTRODUCTION OF PROJECT</vt:lpstr>
      <vt:lpstr>Rapid Prototype Model Incremental Model</vt:lpstr>
      <vt:lpstr>Use Case Diagram</vt:lpstr>
      <vt:lpstr>Business Rules Catalog</vt:lpstr>
      <vt:lpstr>Architectural Design</vt:lpstr>
      <vt:lpstr>Team Structure</vt:lpstr>
      <vt:lpstr>Project Schedule</vt:lpstr>
      <vt:lpstr>Sequence Diagrams</vt:lpstr>
      <vt:lpstr>Logical Model/Class Diagram</vt:lpstr>
      <vt:lpstr>Entity-Relationship Diagram</vt:lpstr>
      <vt:lpstr>Database Diagram</vt:lpstr>
      <vt:lpstr>User Interfaces</vt:lpstr>
      <vt:lpstr>PowerPoint Presentation</vt:lpstr>
      <vt:lpstr>PowerPoint Presentation</vt:lpstr>
      <vt:lpstr>PowerPoint Presentation</vt:lpstr>
      <vt:lpstr>PowerPoint Presentation</vt:lpstr>
      <vt:lpstr>PowerPoint Presentation</vt:lpstr>
      <vt:lpstr>Tools</vt:lpstr>
      <vt:lpstr>A chatbot is not just a tool, it’s the new waiter of the digital age — always ready to serve with speed and a smile.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2025-08-26T15:49:16Z</dcterms:created>
  <dcterms:modified xsi:type="dcterms:W3CDTF">2025-08-27T15:56:47Z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